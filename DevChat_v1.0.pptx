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50" r:id="rId3"/>
  </p:sldMasterIdLst>
  <p:notesMasterIdLst>
    <p:notesMasterId r:id="rId5"/>
  </p:notesMasterIdLst>
  <p:sldIdLst>
    <p:sldId id="256" r:id="rId7"/>
    <p:sldId id="257" r:id="rId9"/>
    <p:sldId id="258" r:id="rId11"/>
    <p:sldId id="259" r:id="rId13"/>
    <p:sldId id="260" r:id="rId15"/>
    <p:sldId id="261" r:id="rId17"/>
    <p:sldId id="262" r:id="rId19"/>
    <p:sldId id="263" r:id="rId21"/>
    <p:sldId id="264" r:id="rId23"/>
    <p:sldId id="265" r:id="rId25"/>
    <p:sldId id="266" r:id="rId27"/>
    <p:sldId id="267" r:id="rId28"/>
    <p:sldId id="268" r:id="rId29"/>
    <p:sldId id="269" r:id="rId31"/>
  </p:sldIdLst>
  <p:notesMasterIdLst/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3" Type="http://schemas.openxmlformats.org/officeDocument/2006/relationships/slideMaster" Target="slideMasters/slideMaster1.xml"></Relationship><Relationship Id="rId4" Type="http://schemas.openxmlformats.org/officeDocument/2006/relationships/theme" Target="theme/theme1.xml"></Relationship><Relationship Id="rId5" Type="http://schemas.openxmlformats.org/officeDocument/2006/relationships/notesMaster" Target="notesMasters/notesMaster1.xml"></Relationship><Relationship Id="rId7" Type="http://schemas.openxmlformats.org/officeDocument/2006/relationships/slide" Target="slides/slide1.xml"></Relationship><Relationship Id="rId9" Type="http://schemas.openxmlformats.org/officeDocument/2006/relationships/slide" Target="slides/slide2.xml"></Relationship><Relationship Id="rId11" Type="http://schemas.openxmlformats.org/officeDocument/2006/relationships/slide" Target="slides/slide3.xml"></Relationship><Relationship Id="rId13" Type="http://schemas.openxmlformats.org/officeDocument/2006/relationships/slide" Target="slides/slide4.xml"></Relationship><Relationship Id="rId15" Type="http://schemas.openxmlformats.org/officeDocument/2006/relationships/slide" Target="slides/slide5.xml"></Relationship><Relationship Id="rId17" Type="http://schemas.openxmlformats.org/officeDocument/2006/relationships/slide" Target="slides/slide6.xml"></Relationship><Relationship Id="rId19" Type="http://schemas.openxmlformats.org/officeDocument/2006/relationships/slide" Target="slides/slide7.xml"></Relationship><Relationship Id="rId21" Type="http://schemas.openxmlformats.org/officeDocument/2006/relationships/slide" Target="slides/slide8.xml"></Relationship><Relationship Id="rId23" Type="http://schemas.openxmlformats.org/officeDocument/2006/relationships/slide" Target="slides/slide9.xml"></Relationship><Relationship Id="rId25" Type="http://schemas.openxmlformats.org/officeDocument/2006/relationships/slide" Target="slides/slide10.xml"></Relationship><Relationship Id="rId27" Type="http://schemas.openxmlformats.org/officeDocument/2006/relationships/slide" Target="slides/slide11.xml"></Relationship><Relationship Id="rId28" Type="http://schemas.openxmlformats.org/officeDocument/2006/relationships/slide" Target="slides/slide12.xml"></Relationship><Relationship Id="rId29" Type="http://schemas.openxmlformats.org/officeDocument/2006/relationships/slide" Target="slides/slide13.xml"></Relationship><Relationship Id="rId31" Type="http://schemas.openxmlformats.org/officeDocument/2006/relationships/slide" Target="slides/slide14.xml"></Relationship><Relationship Id="rId35" Type="http://schemas.openxmlformats.org/officeDocument/2006/relationships/viewProps" Target="viewProps.xml"></Relationship><Relationship Id="rId36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0.xml"></Relationship></Relationships>
</file>

<file path=ppt/notesSlides/_rels/notesSlide1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1.xml"></Relationship></Relationships>
</file>

<file path=ppt/notesSlides/_rels/notesSlide1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4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image" Target="../media/image-1-1.png"></Relationship><Relationship Id="rId2" Type="http://schemas.openxmlformats.org/officeDocument/2006/relationships/slideLayout" Target="../slideLayouts/slideLayout1.xml"></Relationship><Relationship Id="rId3" Type="http://schemas.openxmlformats.org/officeDocument/2006/relationships/notesSlide" Target="../notesSlides/notesSlide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image" Target="../media/image-3-1.png"></Relationship><Relationship Id="rId2" Type="http://schemas.openxmlformats.org/officeDocument/2006/relationships/image" Target="../media/image-3-2.png"></Relationship><Relationship Id="rId3" Type="http://schemas.openxmlformats.org/officeDocument/2006/relationships/image" Target="../media/image-3-3.png"></Relationship><Relationship Id="rId4" Type="http://schemas.openxmlformats.org/officeDocument/2006/relationships/slideLayout" Target="../slideLayouts/slideLayout1.xml"></Relationship><Relationship Id="rId5" Type="http://schemas.openxmlformats.org/officeDocument/2006/relationships/notesSlide" Target="../notesSlides/notesSlide3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image" Target="../media/image-4-1.png"></Relationship><Relationship Id="rId2" Type="http://schemas.openxmlformats.org/officeDocument/2006/relationships/slideLayout" Target="../slideLayouts/slideLayout1.xml"></Relationship><Relationship Id="rId3" Type="http://schemas.openxmlformats.org/officeDocument/2006/relationships/notesSlide" Target="../notesSlides/notesSlide4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image" Target="../media/image-5-1.png"></Relationship><Relationship Id="rId2" Type="http://schemas.openxmlformats.org/officeDocument/2006/relationships/slideLayout" Target="../slideLayouts/slideLayout1.xml"></Relationship><Relationship Id="rId3" Type="http://schemas.openxmlformats.org/officeDocument/2006/relationships/notesSlide" Target="../notesSlides/notesSlide5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image" Target="../media/image-6-1.png"></Relationship><Relationship Id="rId2" Type="http://schemas.openxmlformats.org/officeDocument/2006/relationships/image" Target="../media/image-6-2.png"></Relationship><Relationship Id="rId3" Type="http://schemas.openxmlformats.org/officeDocument/2006/relationships/image" Target="../media/image-6-3.png"></Relationship><Relationship Id="rId4" Type="http://schemas.openxmlformats.org/officeDocument/2006/relationships/slideLayout" Target="../slideLayouts/slideLayout1.xml"></Relationship><Relationship Id="rId5" Type="http://schemas.openxmlformats.org/officeDocument/2006/relationships/notesSlide" Target="../notesSlides/notesSlide6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image" Target="../media/image-7-1.png"></Relationship><Relationship Id="rId2" Type="http://schemas.openxmlformats.org/officeDocument/2006/relationships/image" Target="../media/image-7-2.png"></Relationship><Relationship Id="rId3" Type="http://schemas.openxmlformats.org/officeDocument/2006/relationships/slideLayout" Target="../slideLayouts/slideLayout1.xml"></Relationship><Relationship Id="rId4" Type="http://schemas.openxmlformats.org/officeDocument/2006/relationships/notesSlide" Target="../notesSlides/notesSlide7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8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9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image" Target="../media/image-10-1.png"></Relationship><Relationship Id="rId2" Type="http://schemas.openxmlformats.org/officeDocument/2006/relationships/slideLayout" Target="../slideLayouts/slideLayout1.xml"></Relationship><Relationship Id="rId3" Type="http://schemas.openxmlformats.org/officeDocument/2006/relationships/notesSlide" Target="../notesSlides/notesSlide10.xml"></Relationship></Relationships>
</file>

<file path=ppt/slides/_rels/slide11.xml.rels><?xml version="1.0" encoding="UTF-8"?>
<Relationships xmlns="http://schemas.openxmlformats.org/package/2006/relationships"><Relationship Id="rId2" Type="http://schemas.openxmlformats.org/officeDocument/2006/relationships/notesSlide" Target="../notesSlides/notesSlide11.xml"></Relationship><Relationship Id="rId3" Type="http://schemas.openxmlformats.org/officeDocument/2006/relationships/image" Target="../media/fImage242385910.png"></Relationship><Relationship Id="rId4" Type="http://schemas.openxmlformats.org/officeDocument/2006/relationships/image" Target="../media/fImage289585922966.png"></Relationship><Relationship Id="rId5" Type="http://schemas.openxmlformats.org/officeDocument/2006/relationships/image" Target="../media/fImage23262593695.png"></Relationship><Relationship Id="rId6" Type="http://schemas.openxmlformats.org/officeDocument/2006/relationships/slideLayout" Target="../slideLayouts/slideLayout1.xml"></Relationship></Relationships>
</file>

<file path=ppt/slides/_rels/slide12.xml.rels><?xml version="1.0" encoding="UTF-8"?>
<Relationships xmlns="http://schemas.openxmlformats.org/package/2006/relationships"><Relationship Id="rId2" Type="http://schemas.openxmlformats.org/officeDocument/2006/relationships/notesSlide" Target="../notesSlides/notesSlide12.xml"></Relationship><Relationship Id="rId3" Type="http://schemas.openxmlformats.org/officeDocument/2006/relationships/image" Target="../media/fImage208415969955.png"></Relationship><Relationship Id="rId4" Type="http://schemas.openxmlformats.org/officeDocument/2006/relationships/image" Target="../media/fImage200735977588.png"></Relationship><Relationship Id="rId5" Type="http://schemas.openxmlformats.org/officeDocument/2006/relationships/image" Target="../media/fImage293225984850.png"></Relationship><Relationship Id="rId6" Type="http://schemas.openxmlformats.org/officeDocument/2006/relationships/image" Target="../media/fImage178085997754.png"></Relationship><Relationship Id="rId7" Type="http://schemas.openxmlformats.org/officeDocument/2006/relationships/slideLayout" Target="../slideLayouts/slideLayout1.xm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3.xm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4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672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443615" y="557213"/>
            <a:ext cx="70529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005572" y="595313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6196072" y="557213"/>
            <a:ext cx="12537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· 2026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3291929"/>
            <a:ext cx="102810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PRESENTATION · 2026.05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914400" y="3434804"/>
            <a:ext cx="10281053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0" b="1" spc="-67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</a:t>
            </a:r>
            <a:pPr algn="l" indent="0" marL="0">
              <a:lnSpc>
                <a:spcPct val="92000"/>
              </a:lnSpc>
              <a:buNone/>
            </a:pPr>
            <a:r>
              <a:rPr lang="en-US" sz="15000" b="1" spc="-675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0" dirty="0"/>
          </a:p>
        </p:txBody>
      </p:sp>
      <p:sp>
        <p:nvSpPr>
          <p:cNvPr id="8" name="Text 6"/>
          <p:cNvSpPr/>
          <p:nvPr/>
        </p:nvSpPr>
        <p:spPr>
          <a:xfrm>
            <a:off x="914400" y="5530304"/>
            <a:ext cx="7063740" cy="921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spc="-24" kern="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+ 실시간 메신저를 한 서비스에 통합한 사용자 중심 웹 플랫폼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81100" y="7037933"/>
            <a:ext cx="9525" cy="17145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1457325" y="7023646"/>
            <a:ext cx="76810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415927" y="7037933"/>
            <a:ext cx="9525" cy="17145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Text 10"/>
          <p:cNvSpPr/>
          <p:nvPr/>
        </p:nvSpPr>
        <p:spPr>
          <a:xfrm>
            <a:off x="2692152" y="7023646"/>
            <a:ext cx="16359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Demo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810405" y="1819275"/>
            <a:ext cx="5563046" cy="6877050"/>
          </a:xfrm>
          <a:prstGeom prst="roundRect">
            <a:avLst>
              <a:gd name="adj" fmla="val 5479"/>
            </a:avLst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19930" y="1828800"/>
            <a:ext cx="5543996" cy="6858000"/>
          </a:xfrm>
          <a:prstGeom prst="rect">
            <a:avLst/>
          </a:prstGeom>
          <a:solidFill>
            <a:srgbClr val="E5E7EB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353330" y="2667000"/>
            <a:ext cx="3524250" cy="2543175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457200" dist="228600" dir="5400000">
              <a:srgbClr val="1F2937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2591455" y="2905125"/>
            <a:ext cx="342900" cy="342900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17" name="Text 15"/>
          <p:cNvSpPr/>
          <p:nvPr/>
        </p:nvSpPr>
        <p:spPr>
          <a:xfrm>
            <a:off x="13048655" y="2924175"/>
            <a:ext cx="9873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park.seojin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048655" y="3076575"/>
            <a:ext cx="98732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방금 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591455" y="3419475"/>
            <a:ext cx="3048000" cy="762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20" name="Shape 18"/>
          <p:cNvSpPr/>
          <p:nvPr/>
        </p:nvSpPr>
        <p:spPr>
          <a:xfrm>
            <a:off x="12591455" y="3571875"/>
            <a:ext cx="1828800" cy="7620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91455" y="3781425"/>
            <a:ext cx="3048000" cy="914400"/>
          </a:xfrm>
          <a:prstGeom prst="roundRect">
            <a:avLst>
              <a:gd name="adj" fmla="val 10417"/>
            </a:avLst>
          </a:prstGeom>
          <a:solidFill>
            <a:srgbClr val="E0E7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591455" y="4829175"/>
            <a:ext cx="32667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♡ 12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12918132" y="4829175"/>
            <a:ext cx="30747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4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13382476" y="5720804"/>
            <a:ext cx="3448050" cy="2203996"/>
          </a:xfrm>
          <a:prstGeom prst="roundRect">
            <a:avLst>
              <a:gd name="adj" fmla="val 777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457200" dist="228600" dir="5400000">
              <a:srgbClr val="1F2937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582501" y="6358979"/>
            <a:ext cx="3048000" cy="952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Shape 24"/>
          <p:cNvSpPr/>
          <p:nvPr/>
        </p:nvSpPr>
        <p:spPr>
          <a:xfrm>
            <a:off x="13582501" y="5958929"/>
            <a:ext cx="266700" cy="2667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13944451" y="6011317"/>
            <a:ext cx="108599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친구들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16563826" y="6058942"/>
            <a:ext cx="66675" cy="66675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Shape 27"/>
          <p:cNvSpPr/>
          <p:nvPr/>
        </p:nvSpPr>
        <p:spPr>
          <a:xfrm>
            <a:off x="13582501" y="6520904"/>
            <a:ext cx="2667000" cy="312390"/>
          </a:xfrm>
          <a:prstGeom prst="roundRect">
            <a:avLst>
              <a:gd name="adj" fmla="val 36589"/>
            </a:avLst>
          </a:prstGeom>
          <a:solidFill>
            <a:srgbClr val="F7F8FB"/>
          </a:solidFill>
          <a:ln/>
        </p:spPr>
      </p:sp>
      <p:sp>
        <p:nvSpPr>
          <p:cNvPr id="30" name="Text 28"/>
          <p:cNvSpPr/>
          <p:nvPr/>
        </p:nvSpPr>
        <p:spPr>
          <a:xfrm>
            <a:off x="13696801" y="6597104"/>
            <a:ext cx="251841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발표 잘했어요!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3963501" y="6909495"/>
            <a:ext cx="2667000" cy="312390"/>
          </a:xfrm>
          <a:prstGeom prst="roundRect">
            <a:avLst>
              <a:gd name="adj" fmla="val 36589"/>
            </a:avLst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14077801" y="6985695"/>
            <a:ext cx="251841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덕분이에요 👏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3582501" y="7298085"/>
            <a:ext cx="2667000" cy="312390"/>
          </a:xfrm>
          <a:prstGeom prst="roundRect">
            <a:avLst>
              <a:gd name="adj" fmla="val 36589"/>
            </a:avLst>
          </a:prstGeom>
          <a:solidFill>
            <a:srgbClr val="F7F8FB"/>
          </a:solidFill>
          <a:ln/>
        </p:spPr>
      </p:sp>
      <p:sp>
        <p:nvSpPr>
          <p:cNvPr id="34" name="Text 32"/>
          <p:cNvSpPr/>
          <p:nvPr/>
        </p:nvSpPr>
        <p:spPr>
          <a:xfrm>
            <a:off x="13696801" y="7374285"/>
            <a:ext cx="251841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잘 되네요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6144726" y="2438400"/>
            <a:ext cx="609600" cy="609600"/>
          </a:xfrm>
          <a:prstGeom prst="roundRect">
            <a:avLst>
              <a:gd name="adj" fmla="val 28125"/>
            </a:avLst>
          </a:prstGeom>
          <a:solidFill>
            <a:srgbClr val="F59E0B"/>
          </a:solidFill>
          <a:ln/>
          <a:effectLst>
            <a:outerShdw sx="100000" sy="100000" kx="0" ky="0" algn="bl" rotWithShape="0" blurRad="304800" dist="152400" dir="5400000">
              <a:srgbClr val="F59E0B">
                <a:alpha val="45000"/>
              </a:srgbClr>
            </a:outerShdw>
          </a:effectLst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35226" y="2628900"/>
            <a:ext cx="228600" cy="22860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914400" y="9744075"/>
            <a:ext cx="266700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38" name="Text 35"/>
          <p:cNvSpPr/>
          <p:nvPr/>
        </p:nvSpPr>
        <p:spPr>
          <a:xfrm>
            <a:off x="1314450" y="9677400"/>
            <a:ext cx="19692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· Park Seojin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16891099" y="9677400"/>
            <a:ext cx="5587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672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503295" y="557213"/>
            <a:ext cx="105697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76613" y="595313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6667113" y="557213"/>
            <a:ext cx="782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447800"/>
            <a:ext cx="1695297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47850"/>
            <a:ext cx="16952976" cy="7649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순서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2841427"/>
            <a:ext cx="1695297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-22" kern="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정의부터 구현 디테일, 향후 계획까지.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4498777"/>
            <a:ext cx="78486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" y="4032052"/>
            <a:ext cx="6858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828800" y="3984427"/>
            <a:ext cx="63104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84059" y="4070152"/>
            <a:ext cx="5789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525000" y="4498777"/>
            <a:ext cx="78486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0" y="4032052"/>
            <a:ext cx="6858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439400" y="3984427"/>
            <a:ext cx="63104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아키텍처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794659" y="4070152"/>
            <a:ext cx="5789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5365552"/>
            <a:ext cx="78486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4898827"/>
            <a:ext cx="6858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828800" y="4851202"/>
            <a:ext cx="63104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정의 (배경)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184059" y="4936927"/>
            <a:ext cx="5789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525000" y="5365552"/>
            <a:ext cx="78486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4898827"/>
            <a:ext cx="6858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439400" y="4851202"/>
            <a:ext cx="63104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모델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794659" y="4936927"/>
            <a:ext cx="5789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4400" y="6232327"/>
            <a:ext cx="78486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Text 24"/>
          <p:cNvSpPr/>
          <p:nvPr/>
        </p:nvSpPr>
        <p:spPr>
          <a:xfrm>
            <a:off x="990600" y="5765602"/>
            <a:ext cx="6858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828800" y="5717977"/>
            <a:ext cx="63104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 방안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184059" y="5803702"/>
            <a:ext cx="5789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525000" y="6232327"/>
            <a:ext cx="78486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0" y="5765602"/>
            <a:ext cx="6858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439400" y="5717977"/>
            <a:ext cx="63104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시연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794659" y="5803702"/>
            <a:ext cx="5789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14400" y="7099102"/>
            <a:ext cx="78486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Text 32"/>
          <p:cNvSpPr/>
          <p:nvPr/>
        </p:nvSpPr>
        <p:spPr>
          <a:xfrm>
            <a:off x="990600" y="6632377"/>
            <a:ext cx="6858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828800" y="6584752"/>
            <a:ext cx="63104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184059" y="6670477"/>
            <a:ext cx="5789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525000" y="7099102"/>
            <a:ext cx="78486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0" y="6632377"/>
            <a:ext cx="6858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439400" y="6584752"/>
            <a:ext cx="63104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구현 포인트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794659" y="6670477"/>
            <a:ext cx="5789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14400" y="7965877"/>
            <a:ext cx="78486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40"/>
          <p:cNvSpPr/>
          <p:nvPr/>
        </p:nvSpPr>
        <p:spPr>
          <a:xfrm>
            <a:off x="990600" y="7499152"/>
            <a:ext cx="6858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828800" y="7451527"/>
            <a:ext cx="63104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184059" y="7537252"/>
            <a:ext cx="5789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525000" y="7965877"/>
            <a:ext cx="78486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Text 44"/>
          <p:cNvSpPr/>
          <p:nvPr/>
        </p:nvSpPr>
        <p:spPr>
          <a:xfrm>
            <a:off x="9601200" y="7499152"/>
            <a:ext cx="68580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54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0439400" y="7451527"/>
            <a:ext cx="63104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 / 향후 계획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6794659" y="7537252"/>
            <a:ext cx="57894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0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······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14400" y="9744075"/>
            <a:ext cx="266700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50" name="Text 48"/>
          <p:cNvSpPr/>
          <p:nvPr/>
        </p:nvSpPr>
        <p:spPr>
          <a:xfrm>
            <a:off x="1314450" y="9677400"/>
            <a:ext cx="19692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· Park Seojin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6891099" y="9677400"/>
            <a:ext cx="5587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14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672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296721" y="557213"/>
            <a:ext cx="14701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OVERVIEW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76613" y="595313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6667113" y="557213"/>
            <a:ext cx="782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447800"/>
            <a:ext cx="169529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프로젝트 개요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6425"/>
            <a:ext cx="16952976" cy="1491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피드와 실시간 채팅을 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서비스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596878"/>
            <a:ext cx="1695297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-22" kern="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"페이스북 + 페이스북 메신저"를 한 서비스에 통합한 SNS·실시간 채팅 통합 웹 플랫폼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4606528"/>
            <a:ext cx="5283101" cy="2571750"/>
          </a:xfrm>
          <a:prstGeom prst="roundRect">
            <a:avLst>
              <a:gd name="adj" fmla="val 8889"/>
            </a:avLst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66825" y="5149453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9050" dir="5400000">
              <a:srgbClr val="E5E7EB">
                <a:alpha val="100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5292328"/>
            <a:ext cx="247650" cy="2476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66825" y="5949553"/>
            <a:ext cx="471559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피드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266825" y="6492478"/>
            <a:ext cx="47155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FEED · POSTS · LIKES</a:t>
            </a:r>
            <a:endParaRPr lang="en-US" sz="975" dirty="0"/>
          </a:p>
        </p:txBody>
      </p:sp>
      <p:sp>
        <p:nvSpPr>
          <p:cNvPr id="14" name="Shape 11"/>
          <p:cNvSpPr/>
          <p:nvPr/>
        </p:nvSpPr>
        <p:spPr>
          <a:xfrm>
            <a:off x="6502301" y="4606528"/>
            <a:ext cx="5283250" cy="2571750"/>
          </a:xfrm>
          <a:prstGeom prst="roundRect">
            <a:avLst>
              <a:gd name="adj" fmla="val 8889"/>
            </a:avLst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4726" y="5149453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9050" dir="5400000">
              <a:srgbClr val="E5E7EB">
                <a:alpha val="10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601" y="5292328"/>
            <a:ext cx="247650" cy="2476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54726" y="5949553"/>
            <a:ext cx="471575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메신저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6854726" y="6492478"/>
            <a:ext cx="471575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 · DIRECT · GROUP</a:t>
            </a:r>
            <a:endParaRPr lang="en-US" sz="975" dirty="0"/>
          </a:p>
        </p:txBody>
      </p:sp>
      <p:sp>
        <p:nvSpPr>
          <p:cNvPr id="19" name="Shape 15"/>
          <p:cNvSpPr/>
          <p:nvPr/>
        </p:nvSpPr>
        <p:spPr>
          <a:xfrm>
            <a:off x="12090350" y="4606528"/>
            <a:ext cx="5283250" cy="2571750"/>
          </a:xfrm>
          <a:prstGeom prst="roundRect">
            <a:avLst>
              <a:gd name="adj" fmla="val 8889"/>
            </a:avLst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12442775" y="5149453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19050" dir="5400000">
              <a:srgbClr val="E5E7EB">
                <a:alpha val="100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5650" y="5292328"/>
            <a:ext cx="247650" cy="2476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442775" y="5949553"/>
            <a:ext cx="471575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40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알림</a:t>
            </a:r>
            <a:endParaRPr lang="en-US" sz="2700" dirty="0"/>
          </a:p>
        </p:txBody>
      </p:sp>
      <p:sp>
        <p:nvSpPr>
          <p:cNvPr id="23" name="Text 18"/>
          <p:cNvSpPr/>
          <p:nvPr/>
        </p:nvSpPr>
        <p:spPr>
          <a:xfrm>
            <a:off x="12442775" y="6492478"/>
            <a:ext cx="471575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46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UNIFIED NOTIFICATIONS</a:t>
            </a:r>
            <a:endParaRPr lang="en-US" sz="975" dirty="0"/>
          </a:p>
        </p:txBody>
      </p:sp>
      <p:sp>
        <p:nvSpPr>
          <p:cNvPr id="24" name="Shape 19"/>
          <p:cNvSpPr/>
          <p:nvPr/>
        </p:nvSpPr>
        <p:spPr>
          <a:xfrm>
            <a:off x="914400" y="7787878"/>
            <a:ext cx="164592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0"/>
          <p:cNvSpPr/>
          <p:nvPr/>
        </p:nvSpPr>
        <p:spPr>
          <a:xfrm>
            <a:off x="914400" y="8140303"/>
            <a:ext cx="1695297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950" spc="-19" kern="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피드·친구·채팅이 같은 사용자 데이터 위에서 자연스럽게 연결되는 통합형 플랫폼.</a:t>
            </a:r>
            <a:endParaRPr lang="en-US" sz="1950" dirty="0"/>
          </a:p>
        </p:txBody>
      </p:sp>
      <p:sp>
        <p:nvSpPr>
          <p:cNvPr id="26" name="Shape 21"/>
          <p:cNvSpPr/>
          <p:nvPr/>
        </p:nvSpPr>
        <p:spPr>
          <a:xfrm>
            <a:off x="914400" y="9744075"/>
            <a:ext cx="266700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27" name="Text 22"/>
          <p:cNvSpPr/>
          <p:nvPr/>
        </p:nvSpPr>
        <p:spPr>
          <a:xfrm>
            <a:off x="1314450" y="9677400"/>
            <a:ext cx="19692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· Park Seojin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16891099" y="9677400"/>
            <a:ext cx="5587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672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332291" y="557213"/>
            <a:ext cx="13991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PROBLEM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76613" y="595313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6667113" y="557213"/>
            <a:ext cx="782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447800"/>
            <a:ext cx="169529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문제 정의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6425"/>
            <a:ext cx="16952976" cy="1491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국내에는 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통합형 SNS+메신저 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서비스가 비어있다.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914400" y="4054078"/>
            <a:ext cx="5308550" cy="31432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28725" y="4406503"/>
            <a:ext cx="791914" cy="257175"/>
          </a:xfrm>
          <a:prstGeom prst="roundRect">
            <a:avLst>
              <a:gd name="adj" fmla="val 22222"/>
            </a:avLst>
          </a:prstGeom>
          <a:solidFill>
            <a:srgbClr val="F7F8FB"/>
          </a:solidFill>
          <a:ln/>
        </p:spPr>
      </p:sp>
      <p:sp>
        <p:nvSpPr>
          <p:cNvPr id="10" name="Text 8"/>
          <p:cNvSpPr/>
          <p:nvPr/>
        </p:nvSpPr>
        <p:spPr>
          <a:xfrm>
            <a:off x="1343025" y="4463653"/>
            <a:ext cx="6395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01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228725" y="4854178"/>
            <a:ext cx="482029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카카오톡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228725" y="5549503"/>
            <a:ext cx="48202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메신저 </a:t>
            </a:r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228725" y="6092428"/>
            <a:ext cx="4679900" cy="752475"/>
          </a:xfrm>
          <a:prstGeom prst="rect">
            <a:avLst/>
          </a:prstGeom>
          <a:solidFill>
            <a:srgbClr val="FA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28725" y="6092428"/>
            <a:ext cx="28575" cy="752475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5" name="Text 13"/>
          <p:cNvSpPr/>
          <p:nvPr/>
        </p:nvSpPr>
        <p:spPr>
          <a:xfrm>
            <a:off x="1409700" y="6225778"/>
            <a:ext cx="448692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강력한 1:1·그룹 채팅. 그러나 카카오스토리는 정체기에 진입, SNS 흐름이 끊김.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6489650" y="4054078"/>
            <a:ext cx="5308550" cy="31432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03975" y="4406503"/>
            <a:ext cx="791914" cy="257175"/>
          </a:xfrm>
          <a:prstGeom prst="roundRect">
            <a:avLst>
              <a:gd name="adj" fmla="val 22222"/>
            </a:avLst>
          </a:prstGeom>
          <a:solidFill>
            <a:srgbClr val="F7F8FB"/>
          </a:solidFill>
          <a:ln/>
        </p:spPr>
      </p:sp>
      <p:sp>
        <p:nvSpPr>
          <p:cNvPr id="18" name="Text 16"/>
          <p:cNvSpPr/>
          <p:nvPr/>
        </p:nvSpPr>
        <p:spPr>
          <a:xfrm>
            <a:off x="6918275" y="4463653"/>
            <a:ext cx="6395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02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803975" y="4854178"/>
            <a:ext cx="482029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인스타그램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803975" y="5549503"/>
            <a:ext cx="48202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 </a:t>
            </a:r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중심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803975" y="6092428"/>
            <a:ext cx="4679900" cy="752475"/>
          </a:xfrm>
          <a:prstGeom prst="rect">
            <a:avLst/>
          </a:prstGeom>
          <a:solidFill>
            <a:srgbClr val="FA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6803975" y="6092428"/>
            <a:ext cx="28575" cy="752475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3" name="Text 21"/>
          <p:cNvSpPr/>
          <p:nvPr/>
        </p:nvSpPr>
        <p:spPr>
          <a:xfrm>
            <a:off x="6984950" y="6225778"/>
            <a:ext cx="448692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사진·릴스 기반 강한 피드. DM은 부가 기능에 머물러 일상 메신저로 쓰이지 않음.</a:t>
            </a:r>
            <a:endParaRPr lang="en-US" sz="1275" dirty="0"/>
          </a:p>
        </p:txBody>
      </p:sp>
      <p:sp>
        <p:nvSpPr>
          <p:cNvPr id="24" name="Shape 22"/>
          <p:cNvSpPr/>
          <p:nvPr/>
        </p:nvSpPr>
        <p:spPr>
          <a:xfrm>
            <a:off x="12064901" y="4054078"/>
            <a:ext cx="5308550" cy="314325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379226" y="4406503"/>
            <a:ext cx="791914" cy="257175"/>
          </a:xfrm>
          <a:prstGeom prst="roundRect">
            <a:avLst>
              <a:gd name="adj" fmla="val 22222"/>
            </a:avLst>
          </a:prstGeom>
          <a:solidFill>
            <a:srgbClr val="F7F8FB"/>
          </a:solidFill>
          <a:ln/>
        </p:spPr>
      </p:sp>
      <p:sp>
        <p:nvSpPr>
          <p:cNvPr id="26" name="Text 24"/>
          <p:cNvSpPr/>
          <p:nvPr/>
        </p:nvSpPr>
        <p:spPr>
          <a:xfrm>
            <a:off x="12493526" y="4463653"/>
            <a:ext cx="63951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98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03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2379226" y="4854178"/>
            <a:ext cx="482029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spc="-54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페이스북</a:t>
            </a:r>
            <a:endParaRPr lang="en-US" sz="2700" dirty="0"/>
          </a:p>
        </p:txBody>
      </p:sp>
      <p:sp>
        <p:nvSpPr>
          <p:cNvPr id="28" name="Text 26"/>
          <p:cNvSpPr/>
          <p:nvPr/>
        </p:nvSpPr>
        <p:spPr>
          <a:xfrm>
            <a:off x="12379226" y="5549503"/>
            <a:ext cx="48202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통합형 </a:t>
            </a:r>
            <a:pPr algn="l"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2379226" y="6092428"/>
            <a:ext cx="4679900" cy="752475"/>
          </a:xfrm>
          <a:prstGeom prst="rect">
            <a:avLst/>
          </a:prstGeom>
          <a:solidFill>
            <a:srgbClr val="FA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12379226" y="6092428"/>
            <a:ext cx="28575" cy="752475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31" name="Text 29"/>
          <p:cNvSpPr/>
          <p:nvPr/>
        </p:nvSpPr>
        <p:spPr>
          <a:xfrm>
            <a:off x="12560201" y="6225778"/>
            <a:ext cx="448692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피드+메신저가 한 그래프 위에 통합되어 있으나, 국내 사용자 이탈로 빈자리가 존재.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914400" y="7730728"/>
            <a:ext cx="16459200" cy="1009650"/>
          </a:xfrm>
          <a:prstGeom prst="roundRect">
            <a:avLst>
              <a:gd name="adj" fmla="val 16981"/>
            </a:avLst>
          </a:prstGeom>
          <a:solidFill>
            <a:srgbClr val="4F46E5"/>
          </a:solidFill>
          <a:ln/>
        </p:spPr>
      </p:sp>
      <p:sp>
        <p:nvSpPr>
          <p:cNvPr id="33" name="Shape 31"/>
          <p:cNvSpPr/>
          <p:nvPr/>
        </p:nvSpPr>
        <p:spPr>
          <a:xfrm>
            <a:off x="1295400" y="8035528"/>
            <a:ext cx="400050" cy="400050"/>
          </a:xfrm>
          <a:prstGeom prst="roundRect">
            <a:avLst>
              <a:gd name="adj" fmla="val 28571"/>
            </a:avLst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175" y="8140303"/>
            <a:ext cx="190500" cy="1905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962150" y="8068866"/>
            <a:ext cx="839570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19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통합형 모델은 여전히 유효하다 — 다만 그 자리를 채울 서비스가 부재할 뿐.</a:t>
            </a:r>
            <a:endParaRPr lang="en-US" sz="1950" dirty="0"/>
          </a:p>
        </p:txBody>
      </p:sp>
      <p:sp>
        <p:nvSpPr>
          <p:cNvPr id="36" name="Shape 33"/>
          <p:cNvSpPr/>
          <p:nvPr/>
        </p:nvSpPr>
        <p:spPr>
          <a:xfrm>
            <a:off x="914400" y="9744075"/>
            <a:ext cx="266700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37" name="Text 34"/>
          <p:cNvSpPr/>
          <p:nvPr/>
        </p:nvSpPr>
        <p:spPr>
          <a:xfrm>
            <a:off x="1314450" y="9677400"/>
            <a:ext cx="19692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· Park Seojin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16891099" y="9677400"/>
            <a:ext cx="5587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672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319046" y="557213"/>
            <a:ext cx="14256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SOLUTION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76613" y="595313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6667113" y="557213"/>
            <a:ext cx="782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447800"/>
            <a:ext cx="169529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해결 방안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6425"/>
            <a:ext cx="16952976" cy="1491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친구 그래프 위에 세 영역을 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동시에 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올린다.</a:t>
            </a:r>
            <a:endParaRPr lang="en-US" sz="5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825478"/>
            <a:ext cx="8222307" cy="59055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4587478"/>
            <a:ext cx="2095500" cy="866775"/>
          </a:xfrm>
          <a:prstGeom prst="roundRect">
            <a:avLst>
              <a:gd name="adj" fmla="val 17582"/>
            </a:avLst>
          </a:prstGeom>
          <a:solidFill>
            <a:srgbClr val="EEF2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4425" y="4806553"/>
            <a:ext cx="16954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16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114425" y="5092303"/>
            <a:ext cx="1695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78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 · LIKES</a:t>
            </a:r>
            <a:endParaRPr lang="en-US" sz="975" dirty="0"/>
          </a:p>
        </p:txBody>
      </p:sp>
      <p:sp>
        <p:nvSpPr>
          <p:cNvPr id="12" name="Shape 9"/>
          <p:cNvSpPr/>
          <p:nvPr/>
        </p:nvSpPr>
        <p:spPr>
          <a:xfrm>
            <a:off x="3882479" y="6111478"/>
            <a:ext cx="2286000" cy="981075"/>
          </a:xfrm>
          <a:prstGeom prst="roundRect">
            <a:avLst>
              <a:gd name="adj" fmla="val 15534"/>
            </a:avLst>
          </a:prstGeom>
          <a:solidFill>
            <a:srgbClr val="FFFFFF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20604" y="6387703"/>
            <a:ext cx="1809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16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 Graph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4120604" y="6673453"/>
            <a:ext cx="18097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78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USER GRAPH</a:t>
            </a:r>
            <a:endParaRPr lang="en-US" sz="975" dirty="0"/>
          </a:p>
        </p:txBody>
      </p:sp>
      <p:sp>
        <p:nvSpPr>
          <p:cNvPr id="15" name="Shape 12"/>
          <p:cNvSpPr/>
          <p:nvPr/>
        </p:nvSpPr>
        <p:spPr>
          <a:xfrm>
            <a:off x="7041207" y="4587478"/>
            <a:ext cx="2095500" cy="866775"/>
          </a:xfrm>
          <a:prstGeom prst="roundRect">
            <a:avLst>
              <a:gd name="adj" fmla="val 17582"/>
            </a:avLst>
          </a:prstGeom>
          <a:solidFill>
            <a:srgbClr val="ECFEFF"/>
          </a:solidFill>
          <a:ln w="9525">
            <a:solidFill>
              <a:srgbClr val="06B6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41232" y="4806553"/>
            <a:ext cx="16954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16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Messenger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7241232" y="5092303"/>
            <a:ext cx="1695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78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REALTIME · SOCKET</a:t>
            </a:r>
            <a:endParaRPr lang="en-US" sz="975" dirty="0"/>
          </a:p>
        </p:txBody>
      </p:sp>
      <p:sp>
        <p:nvSpPr>
          <p:cNvPr id="18" name="Shape 15"/>
          <p:cNvSpPr/>
          <p:nvPr/>
        </p:nvSpPr>
        <p:spPr>
          <a:xfrm>
            <a:off x="3882479" y="8397478"/>
            <a:ext cx="2286000" cy="866775"/>
          </a:xfrm>
          <a:prstGeom prst="roundRect">
            <a:avLst>
              <a:gd name="adj" fmla="val 17582"/>
            </a:avLst>
          </a:prstGeom>
          <a:solidFill>
            <a:srgbClr val="FFFBE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82504" y="8616553"/>
            <a:ext cx="18859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16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4082504" y="8902303"/>
            <a:ext cx="18859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78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UNIFIED EVENTS</a:t>
            </a:r>
            <a:endParaRPr lang="en-US" sz="975" dirty="0"/>
          </a:p>
        </p:txBody>
      </p:sp>
      <p:sp>
        <p:nvSpPr>
          <p:cNvPr id="21" name="Shape 18"/>
          <p:cNvSpPr/>
          <p:nvPr/>
        </p:nvSpPr>
        <p:spPr>
          <a:xfrm>
            <a:off x="9898707" y="6025158"/>
            <a:ext cx="747489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Text 19"/>
          <p:cNvSpPr/>
          <p:nvPr/>
        </p:nvSpPr>
        <p:spPr>
          <a:xfrm>
            <a:off x="9898707" y="5549950"/>
            <a:ext cx="14097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📰 Feed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498907" y="5549950"/>
            <a:ext cx="6050933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게시글·댓글·좋아요.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친구 기반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노출되는 뉴스피드와 프로필 피드.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898707" y="7120533"/>
            <a:ext cx="7474893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5" name="Text 22"/>
          <p:cNvSpPr/>
          <p:nvPr/>
        </p:nvSpPr>
        <p:spPr>
          <a:xfrm>
            <a:off x="9898707" y="6434733"/>
            <a:ext cx="14097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Messenger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1498907" y="6434733"/>
            <a:ext cx="6050933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친구·그룹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채팅, 읽음 표시, 미디어 전송, 멤버 초대/나가기.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9898707" y="7530108"/>
            <a:ext cx="140970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Notification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1498907" y="7530108"/>
            <a:ext cx="6050933" cy="3037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친구 신청·댓글·좋아요·채팅 초대 등 </a:t>
            </a:r>
            <a:pPr algn="l" indent="0" marL="0">
              <a:lnSpc>
                <a:spcPct val="155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상호작용</a:t>
            </a:r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한 흐름으로 통지.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914400" y="9744075"/>
            <a:ext cx="266700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30" name="Text 27"/>
          <p:cNvSpPr/>
          <p:nvPr/>
        </p:nvSpPr>
        <p:spPr>
          <a:xfrm>
            <a:off x="1314450" y="9677400"/>
            <a:ext cx="19692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· Park Seojin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6891099" y="9677400"/>
            <a:ext cx="5587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14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672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56959" y="557213"/>
            <a:ext cx="194979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FEATURES (1/2)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76613" y="595313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6667113" y="557213"/>
            <a:ext cx="782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447800"/>
            <a:ext cx="169529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핵심 기능 · 1 OF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6425"/>
            <a:ext cx="16952976" cy="1491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사용자·관계·콘텐츠를 다루는 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도메인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914400" y="3977878"/>
            <a:ext cx="8096250" cy="7772400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66825" y="4354116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4496991"/>
            <a:ext cx="247650" cy="2476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52625" y="4349353"/>
            <a:ext cx="155778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 · AUTH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952625" y="4482703"/>
            <a:ext cx="155778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· 계정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476375" y="5082778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 / 로그인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476375" y="5435203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토큰 회전 </a:t>
            </a:r>
            <a:pPr algn="l" indent="0" marL="0">
              <a:lnSpc>
                <a:spcPct val="150000"/>
              </a:lnSpc>
              <a:buNone/>
            </a:pPr>
            <a:r>
              <a:rPr lang="en-US" sz="1161" dirty="0">
                <a:solidFill>
                  <a:srgbClr val="4338CA"/>
                </a:solidFill>
                <a:highlight>
                  <a:srgbClr val="F7F8F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access 1h + refresh 14d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476375" y="5787628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편집 · 비밀번호 변경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476375" y="6140053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 탈퇴 → 연관 데이터 일괄 정리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476375" y="6492478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HttpOnly 쿠키 + 인터셉터 자동 재발급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277350" y="3977878"/>
            <a:ext cx="8096250" cy="3752850"/>
          </a:xfrm>
          <a:prstGeom prst="roundRect">
            <a:avLst>
              <a:gd name="adj" fmla="val 456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29775" y="4354116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CFEF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650" y="4496991"/>
            <a:ext cx="247650" cy="2476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315575" y="4349353"/>
            <a:ext cx="136668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 · FRIEND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315575" y="4482703"/>
            <a:ext cx="136668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친구 관계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9839325" y="5082778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검색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9839325" y="5435203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친구 신청 · 수락 · 삭제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9839325" y="5787628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친구 목록 · 상태 관리 </a:t>
            </a:r>
            <a:pPr algn="l" indent="0" marL="0">
              <a:lnSpc>
                <a:spcPct val="150000"/>
              </a:lnSpc>
              <a:buNone/>
            </a:pPr>
            <a:r>
              <a:rPr lang="en-US" sz="1161" dirty="0">
                <a:solidFill>
                  <a:srgbClr val="4338CA"/>
                </a:solidFill>
                <a:highlight>
                  <a:srgbClr val="F7F8F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friend_status</a:t>
            </a:r>
            <a:endParaRPr lang="en-US" sz="1350" dirty="0"/>
          </a:p>
        </p:txBody>
      </p:sp>
      <p:sp>
        <p:nvSpPr>
          <p:cNvPr id="26" name="Shape 22"/>
          <p:cNvSpPr/>
          <p:nvPr/>
        </p:nvSpPr>
        <p:spPr>
          <a:xfrm>
            <a:off x="9277350" y="7997428"/>
            <a:ext cx="8096250" cy="3752850"/>
          </a:xfrm>
          <a:prstGeom prst="roundRect">
            <a:avLst>
              <a:gd name="adj" fmla="val 456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9629775" y="8373666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2650" y="8516541"/>
            <a:ext cx="247650" cy="24765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0315575" y="8368903"/>
            <a:ext cx="185648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 · FEED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0315575" y="8502253"/>
            <a:ext cx="185648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 · 콘텐츠</a:t>
            </a:r>
            <a:endParaRPr lang="en-US" sz="2400" dirty="0"/>
          </a:p>
        </p:txBody>
      </p:sp>
      <p:sp>
        <p:nvSpPr>
          <p:cNvPr id="31" name="Text 26"/>
          <p:cNvSpPr/>
          <p:nvPr/>
        </p:nvSpPr>
        <p:spPr>
          <a:xfrm>
            <a:off x="9509760" y="9102328"/>
            <a:ext cx="7587615" cy="1000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게시글 CRUD (미디어 첨부)</a:t>
            </a:r>
            <a:endParaRPr lang="en-US" sz="13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뉴스피드 · 프로필 피드</a:t>
            </a:r>
            <a:endParaRPr lang="en-US" sz="13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댓글 · 대댓글 · 좋아요</a:t>
            </a:r>
            <a:endParaRPr lang="en-US" sz="1350" dirty="0"/>
          </a:p>
        </p:txBody>
      </p:sp>
      <p:sp>
        <p:nvSpPr>
          <p:cNvPr id="32" name="Shape 27"/>
          <p:cNvSpPr/>
          <p:nvPr/>
        </p:nvSpPr>
        <p:spPr>
          <a:xfrm>
            <a:off x="914400" y="9744075"/>
            <a:ext cx="266700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33" name="Text 28"/>
          <p:cNvSpPr/>
          <p:nvPr/>
        </p:nvSpPr>
        <p:spPr>
          <a:xfrm>
            <a:off x="1314450" y="9677400"/>
            <a:ext cx="19692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· Park Seojin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16891099" y="9677400"/>
            <a:ext cx="5587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14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672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056959" y="557213"/>
            <a:ext cx="194979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FEATURES (2/2)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76613" y="595313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6667113" y="557213"/>
            <a:ext cx="782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447800"/>
            <a:ext cx="169529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핵심 기능 · 2 OF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6425"/>
            <a:ext cx="16952976" cy="1491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실시간성과 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통지 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전체 경험을 잇는다.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914400" y="3977878"/>
            <a:ext cx="8096250" cy="50863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66825" y="4354116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CFE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700" y="4496991"/>
            <a:ext cx="247650" cy="2476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52625" y="4349353"/>
            <a:ext cx="19640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 · MESSENGER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952625" y="4482703"/>
            <a:ext cx="196408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메신저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476375" y="5082778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· 그룹 채팅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lnSpc>
                <a:spcPct val="150000"/>
              </a:lnSpc>
              <a:buNone/>
            </a:pPr>
            <a:r>
              <a:rPr lang="en-US" sz="1161" dirty="0">
                <a:solidFill>
                  <a:srgbClr val="4338CA"/>
                </a:solidFill>
                <a:highlight>
                  <a:srgbClr val="F7F8F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direct_key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중복 방 생성 방지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476375" y="5435203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송수신 · 룸 기반 broadcast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476375" y="5787628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읽음 표시 (read receipts)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476375" y="6140053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</a:t>
            </a:r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delete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기록은 남기되 노출 차단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476375" y="6492478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멤버 초대 / 나가기 · </a:t>
            </a:r>
            <a:pPr algn="l" indent="0" marL="0">
              <a:lnSpc>
                <a:spcPct val="150000"/>
              </a:lnSpc>
              <a:buNone/>
            </a:pPr>
            <a:r>
              <a:rPr lang="en-US" sz="1161" dirty="0">
                <a:solidFill>
                  <a:srgbClr val="4338CA"/>
                </a:solidFill>
                <a:highlight>
                  <a:srgbClr val="F7F8F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room_members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277350" y="3977878"/>
            <a:ext cx="8096250" cy="5086350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29775" y="4354116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650" y="4496991"/>
            <a:ext cx="247650" cy="2476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315575" y="4349353"/>
            <a:ext cx="177998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44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 · NOTIFICATION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0315575" y="4482703"/>
            <a:ext cx="1779984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48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통합 알림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9839325" y="5082778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목록 (페이지네이션)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9839325" y="5435203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/ 일괄 읽음 처리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9839325" y="5787628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6종 트리거 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친구 신청·수락 / 댓글·대댓글 / 좋아요 / 채팅 초대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9839325" y="6140053"/>
            <a:ext cx="7403592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미읽음 알림만 </a:t>
            </a:r>
            <a:pPr algn="l" indent="0" marL="0">
              <a:lnSpc>
                <a:spcPct val="1500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index</a:t>
            </a:r>
            <a:pPr algn="l"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빠른 조회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914400" y="9744075"/>
            <a:ext cx="266700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28" name="Text 24"/>
          <p:cNvSpPr/>
          <p:nvPr/>
        </p:nvSpPr>
        <p:spPr>
          <a:xfrm>
            <a:off x="1314450" y="9677400"/>
            <a:ext cx="19692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· Park Seojin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16891099" y="9677400"/>
            <a:ext cx="5587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14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672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213378" y="557213"/>
            <a:ext cx="163681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TECH STACK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76613" y="595313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6667113" y="557213"/>
            <a:ext cx="782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447800"/>
            <a:ext cx="169529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기술 스택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6425"/>
            <a:ext cx="16952976" cy="1491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표준 스택 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위에 실시간성을 더한다.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914400" y="3977878"/>
            <a:ext cx="5308550" cy="358140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925" y="3987403"/>
            <a:ext cx="5289500" cy="77152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1228725" y="4216003"/>
            <a:ext cx="148143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32711" y="4301728"/>
            <a:ext cx="2521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228725" y="5025628"/>
            <a:ext cx="48202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228725" y="5254228"/>
            <a:ext cx="482029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· 컴포넌트 기반 UI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228725" y="5632847"/>
            <a:ext cx="48202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 Module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1228725" y="5861447"/>
            <a:ext cx="482029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컴포넌트 단위 스타일 분리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228725" y="6240066"/>
            <a:ext cx="48202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socket.io-client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228725" y="6468666"/>
            <a:ext cx="482029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메시지 수·발신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228725" y="6847284"/>
            <a:ext cx="48202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228725" y="7075884"/>
            <a:ext cx="482029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인터셉터로 </a:t>
            </a:r>
            <a:pPr algn="l" indent="0" marL="0">
              <a:lnSpc>
                <a:spcPct val="145000"/>
              </a:lnSpc>
              <a:buNone/>
            </a:pPr>
            <a:r>
              <a:rPr lang="en-US" sz="1125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자동 재발급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6489650" y="3977878"/>
            <a:ext cx="5308550" cy="358140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9175" y="3987403"/>
            <a:ext cx="5289500" cy="77152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6803975" y="4216003"/>
            <a:ext cx="133469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307961" y="4301728"/>
            <a:ext cx="2521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6803975" y="5025628"/>
            <a:ext cx="48202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· Express 5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6803975" y="5254228"/>
            <a:ext cx="482029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· 미들웨어 파이프라인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803975" y="5632847"/>
            <a:ext cx="48202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Socket.io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6803975" y="5861447"/>
            <a:ext cx="482029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방(room) 기반 broadcast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6803975" y="6240066"/>
            <a:ext cx="48202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6803975" y="6468666"/>
            <a:ext cx="482029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</a:t>
            </a:r>
            <a:pPr algn="l" indent="0" marL="0">
              <a:lnSpc>
                <a:spcPct val="145000"/>
              </a:lnSpc>
              <a:buNone/>
            </a:pPr>
            <a:r>
              <a:rPr lang="en-US" sz="1125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1h </a:t>
            </a:r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refresh </a:t>
            </a:r>
            <a:pPr algn="l" indent="0" marL="0">
              <a:lnSpc>
                <a:spcPct val="145000"/>
              </a:lnSpc>
              <a:buNone/>
            </a:pPr>
            <a:r>
              <a:rPr lang="en-US" sz="1125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14d </a:t>
            </a:r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6803975" y="6847284"/>
            <a:ext cx="48202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 · cookie-parser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6803975" y="7075884"/>
            <a:ext cx="482029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비밀번호 해시 · HttpOnly 쿠키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12064901" y="3977878"/>
            <a:ext cx="5308550" cy="358140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074426" y="3987403"/>
            <a:ext cx="5289500" cy="77152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12379226" y="4216003"/>
            <a:ext cx="146298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-18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883211" y="4301728"/>
            <a:ext cx="25211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56" kern="0" dirty="0">
                <a:solidFill>
                  <a:srgbClr val="FFFF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12379226" y="5025628"/>
            <a:ext cx="48202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12379226" y="5254228"/>
            <a:ext cx="482029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RDB · ENUM · CASCADE 활용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12379226" y="5632847"/>
            <a:ext cx="48202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Pool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12379226" y="5861447"/>
            <a:ext cx="482029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커넥션 재사용 · 안정성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12379226" y="6240066"/>
            <a:ext cx="48202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Parameterized Query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12379226" y="6468666"/>
            <a:ext cx="482029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방지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2379226" y="6847284"/>
            <a:ext cx="482029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spc="-13" kern="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 Index</a:t>
            </a:r>
            <a:endParaRPr lang="en-US" sz="1275" dirty="0"/>
          </a:p>
        </p:txBody>
      </p:sp>
      <p:sp>
        <p:nvSpPr>
          <p:cNvPr id="43" name="Text 41"/>
          <p:cNvSpPr/>
          <p:nvPr/>
        </p:nvSpPr>
        <p:spPr>
          <a:xfrm>
            <a:off x="12379226" y="7075884"/>
            <a:ext cx="4820297" cy="2452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미읽음 알림 쿼리 최적화</a:t>
            </a:r>
            <a:endParaRPr lang="en-US" sz="1125" dirty="0"/>
          </a:p>
        </p:txBody>
      </p:sp>
      <p:sp>
        <p:nvSpPr>
          <p:cNvPr id="44" name="Shape 42"/>
          <p:cNvSpPr/>
          <p:nvPr/>
        </p:nvSpPr>
        <p:spPr>
          <a:xfrm>
            <a:off x="914400" y="9744075"/>
            <a:ext cx="266700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45" name="Text 43"/>
          <p:cNvSpPr/>
          <p:nvPr/>
        </p:nvSpPr>
        <p:spPr>
          <a:xfrm>
            <a:off x="1314450" y="9677400"/>
            <a:ext cx="19692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· Park Seojin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6891099" y="9677400"/>
            <a:ext cx="5587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14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672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649319" y="557213"/>
            <a:ext cx="27693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SYSTEM ARCHITECTURE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76613" y="595313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6667113" y="557213"/>
            <a:ext cx="782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447800"/>
            <a:ext cx="169529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시스템 아키텍처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6425"/>
            <a:ext cx="16952976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500" b="1" spc="-112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· REST + Socket · 계층 분리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914400" y="3015555"/>
            <a:ext cx="16459200" cy="5956697"/>
          </a:xfrm>
          <a:prstGeom prst="roundRect">
            <a:avLst>
              <a:gd name="adj" fmla="val 3838"/>
            </a:avLst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57325" y="3558480"/>
            <a:ext cx="4946600" cy="230505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9525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3550" y="3834705"/>
            <a:ext cx="4525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01 · CLIENT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33550" y="4082355"/>
            <a:ext cx="45259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29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733550" y="4606230"/>
            <a:ext cx="4394150" cy="276225"/>
          </a:xfrm>
          <a:prstGeom prst="roundRect">
            <a:avLst>
              <a:gd name="adj" fmla="val 20690"/>
            </a:avLst>
          </a:prstGeom>
          <a:solidFill>
            <a:srgbClr val="F7F8FB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4663380"/>
            <a:ext cx="4335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 · components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733550" y="4958655"/>
            <a:ext cx="4394150" cy="276225"/>
          </a:xfrm>
          <a:prstGeom prst="roundRect">
            <a:avLst>
              <a:gd name="adj" fmla="val 20690"/>
            </a:avLst>
          </a:prstGeom>
          <a:solidFill>
            <a:srgbClr val="F7F8FB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5015805"/>
            <a:ext cx="4335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 + interceptor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733550" y="5311080"/>
            <a:ext cx="4394150" cy="276225"/>
          </a:xfrm>
          <a:prstGeom prst="roundRect">
            <a:avLst>
              <a:gd name="adj" fmla="val 20690"/>
            </a:avLst>
          </a:prstGeom>
          <a:solidFill>
            <a:srgbClr val="F7F8FB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5368230"/>
            <a:ext cx="4335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socket.io-client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0625" y="3558480"/>
            <a:ext cx="4946600" cy="230505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6850" y="3834705"/>
            <a:ext cx="4525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02 · SERVER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946850" y="4082355"/>
            <a:ext cx="45259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29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5 + Socket.io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6946850" y="4606230"/>
            <a:ext cx="4394150" cy="276225"/>
          </a:xfrm>
          <a:prstGeom prst="roundRect">
            <a:avLst>
              <a:gd name="adj" fmla="val 20690"/>
            </a:avLst>
          </a:prstGeom>
          <a:solidFill>
            <a:srgbClr val="F7F8FB"/>
          </a:solidFill>
          <a:ln/>
        </p:spPr>
      </p:sp>
      <p:sp>
        <p:nvSpPr>
          <p:cNvPr id="22" name="Text 20"/>
          <p:cNvSpPr/>
          <p:nvPr/>
        </p:nvSpPr>
        <p:spPr>
          <a:xfrm>
            <a:off x="7042100" y="4663380"/>
            <a:ext cx="4335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 → Service → Repository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46850" y="4958655"/>
            <a:ext cx="4394150" cy="276225"/>
          </a:xfrm>
          <a:prstGeom prst="roundRect">
            <a:avLst>
              <a:gd name="adj" fmla="val 20690"/>
            </a:avLst>
          </a:prstGeom>
          <a:solidFill>
            <a:srgbClr val="F7F8FB"/>
          </a:solidFill>
          <a:ln/>
        </p:spPr>
      </p:sp>
      <p:sp>
        <p:nvSpPr>
          <p:cNvPr id="24" name="Text 22"/>
          <p:cNvSpPr/>
          <p:nvPr/>
        </p:nvSpPr>
        <p:spPr>
          <a:xfrm>
            <a:off x="7042100" y="5015805"/>
            <a:ext cx="4335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 middleware · cookie-parser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46850" y="5311080"/>
            <a:ext cx="4394150" cy="276225"/>
          </a:xfrm>
          <a:prstGeom prst="roundRect">
            <a:avLst>
              <a:gd name="adj" fmla="val 20690"/>
            </a:avLst>
          </a:prstGeom>
          <a:solidFill>
            <a:srgbClr val="F7F8FB"/>
          </a:solidFill>
          <a:ln/>
        </p:spPr>
      </p:sp>
      <p:sp>
        <p:nvSpPr>
          <p:cNvPr id="26" name="Text 24"/>
          <p:cNvSpPr/>
          <p:nvPr/>
        </p:nvSpPr>
        <p:spPr>
          <a:xfrm>
            <a:off x="7042100" y="5368230"/>
            <a:ext cx="4335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 auth · room broadcast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1883926" y="3558480"/>
            <a:ext cx="4946600" cy="230505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160151" y="3834705"/>
            <a:ext cx="4525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162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 03 · DATA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160151" y="4082355"/>
            <a:ext cx="452597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-29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2160151" y="4606230"/>
            <a:ext cx="4394150" cy="276225"/>
          </a:xfrm>
          <a:prstGeom prst="roundRect">
            <a:avLst>
              <a:gd name="adj" fmla="val 20690"/>
            </a:avLst>
          </a:prstGeom>
          <a:solidFill>
            <a:srgbClr val="F7F8FB"/>
          </a:solidFill>
          <a:ln/>
        </p:spPr>
      </p:sp>
      <p:sp>
        <p:nvSpPr>
          <p:cNvPr id="31" name="Text 29"/>
          <p:cNvSpPr/>
          <p:nvPr/>
        </p:nvSpPr>
        <p:spPr>
          <a:xfrm>
            <a:off x="12255401" y="4663380"/>
            <a:ext cx="4335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 Pool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2160151" y="4958655"/>
            <a:ext cx="4394150" cy="276225"/>
          </a:xfrm>
          <a:prstGeom prst="roundRect">
            <a:avLst>
              <a:gd name="adj" fmla="val 20690"/>
            </a:avLst>
          </a:prstGeom>
          <a:solidFill>
            <a:srgbClr val="F7F8FB"/>
          </a:solidFill>
          <a:ln/>
        </p:spPr>
      </p:sp>
      <p:sp>
        <p:nvSpPr>
          <p:cNvPr id="33" name="Text 31"/>
          <p:cNvSpPr/>
          <p:nvPr/>
        </p:nvSpPr>
        <p:spPr>
          <a:xfrm>
            <a:off x="12255401" y="5015805"/>
            <a:ext cx="4335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parameterized query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2160151" y="5311080"/>
            <a:ext cx="4394150" cy="276225"/>
          </a:xfrm>
          <a:prstGeom prst="roundRect">
            <a:avLst>
              <a:gd name="adj" fmla="val 20690"/>
            </a:avLst>
          </a:prstGeom>
          <a:solidFill>
            <a:srgbClr val="F7F8FB"/>
          </a:solidFill>
          <a:ln/>
        </p:spPr>
      </p:sp>
      <p:sp>
        <p:nvSpPr>
          <p:cNvPr id="35" name="Text 33"/>
          <p:cNvSpPr/>
          <p:nvPr/>
        </p:nvSpPr>
        <p:spPr>
          <a:xfrm>
            <a:off x="12255401" y="5368230"/>
            <a:ext cx="43354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CASCADE · partial index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457325" y="6206430"/>
            <a:ext cx="15373350" cy="1051322"/>
          </a:xfrm>
          <a:prstGeom prst="roundRect">
            <a:avLst>
              <a:gd name="adj" fmla="val 1268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33550" y="6444555"/>
            <a:ext cx="15265527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[Client]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HttpOnly Cookie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[JWT 검증 미들웨어]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[DB]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733550" y="6760666"/>
            <a:ext cx="15265527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[401]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응답 시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axios 인터셉터가 </a:t>
            </a:r>
            <a:pPr algn="l" indent="0" marL="0">
              <a:lnSpc>
                <a:spcPct val="170000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/auth/refresh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호출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새 access token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 요청 자동 재실행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457325" y="7486352"/>
            <a:ext cx="7572375" cy="942975"/>
          </a:xfrm>
          <a:prstGeom prst="roundRect">
            <a:avLst>
              <a:gd name="adj" fmla="val 1414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95450" y="7781627"/>
            <a:ext cx="73090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HttpOnly Cookie → JWT 검증 미들웨어 → 401 발생 시 axios 인터셉터가 자동 </a:t>
            </a:r>
            <a:pPr algn="l" indent="0" marL="0">
              <a:lnSpc>
                <a:spcPct val="150000"/>
              </a:lnSpc>
              <a:buNone/>
            </a:pPr>
            <a:r>
              <a:rPr lang="en-US" sz="1032" dirty="0">
                <a:solidFill>
                  <a:srgbClr val="4338CA"/>
                </a:solidFill>
                <a:highlight>
                  <a:srgbClr val="F7F8F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refresh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258300" y="7486352"/>
            <a:ext cx="7572375" cy="942975"/>
          </a:xfrm>
          <a:prstGeom prst="roundRect">
            <a:avLst>
              <a:gd name="adj" fmla="val 1414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96425" y="7705427"/>
            <a:ext cx="73090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-12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계층 분리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96425" y="7981652"/>
            <a:ext cx="730900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→ Service → Repository → DB · 책임을 분리해 테스트와 변경에 강하게.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14400" y="9744075"/>
            <a:ext cx="266700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45" name="Text 43"/>
          <p:cNvSpPr/>
          <p:nvPr/>
        </p:nvSpPr>
        <p:spPr>
          <a:xfrm>
            <a:off x="1314450" y="9677400"/>
            <a:ext cx="19692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· Park Seojin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6891099" y="9677400"/>
            <a:ext cx="5587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14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672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174534" y="557213"/>
            <a:ext cx="17145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DATA MODEL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76613" y="595313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6667113" y="557213"/>
            <a:ext cx="782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447800"/>
            <a:ext cx="169529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데이터 모델 · 10 TABLES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6425"/>
            <a:ext cx="16952976" cy="643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500" b="1" spc="-112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 테이블 · </a:t>
            </a:r>
            <a:pPr algn="l" indent="0" marL="0">
              <a:lnSpc>
                <a:spcPct val="106000"/>
              </a:lnSpc>
              <a:buNone/>
            </a:pPr>
            <a:r>
              <a:rPr lang="en-US" sz="4500" b="1" spc="-112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4개 도메인 그룹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914400" y="3091755"/>
            <a:ext cx="3943350" cy="25146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5596830"/>
            <a:ext cx="39433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091755"/>
            <a:ext cx="3943350" cy="2857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3091755"/>
            <a:ext cx="9525" cy="2514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8225" y="3091755"/>
            <a:ext cx="9525" cy="2514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2525" y="3720405"/>
            <a:ext cx="3467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Text 12"/>
          <p:cNvSpPr/>
          <p:nvPr/>
        </p:nvSpPr>
        <p:spPr>
          <a:xfrm>
            <a:off x="1152525" y="3348930"/>
            <a:ext cx="107215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· 관계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25354" y="3401318"/>
            <a:ext cx="67047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TABLES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525" y="3939480"/>
            <a:ext cx="35711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152525" y="4339530"/>
            <a:ext cx="35711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friendships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5086350" y="3091755"/>
            <a:ext cx="3943350" cy="25146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086350" y="5596830"/>
            <a:ext cx="39433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0" name="Shape 18"/>
          <p:cNvSpPr/>
          <p:nvPr/>
        </p:nvSpPr>
        <p:spPr>
          <a:xfrm>
            <a:off x="5086350" y="3091755"/>
            <a:ext cx="3943350" cy="28575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Shape 19"/>
          <p:cNvSpPr/>
          <p:nvPr/>
        </p:nvSpPr>
        <p:spPr>
          <a:xfrm>
            <a:off x="5086350" y="3091755"/>
            <a:ext cx="9525" cy="2514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20"/>
          <p:cNvSpPr/>
          <p:nvPr/>
        </p:nvSpPr>
        <p:spPr>
          <a:xfrm>
            <a:off x="9020175" y="3091755"/>
            <a:ext cx="9525" cy="2514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1"/>
          <p:cNvSpPr/>
          <p:nvPr/>
        </p:nvSpPr>
        <p:spPr>
          <a:xfrm>
            <a:off x="5324475" y="3720405"/>
            <a:ext cx="3467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2"/>
          <p:cNvSpPr/>
          <p:nvPr/>
        </p:nvSpPr>
        <p:spPr>
          <a:xfrm>
            <a:off x="5324475" y="3348930"/>
            <a:ext cx="5854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197304" y="3401318"/>
            <a:ext cx="67047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TABLES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24475" y="3939480"/>
            <a:ext cx="35711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324475" y="4339530"/>
            <a:ext cx="35711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posts_media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5324475" y="4739580"/>
            <a:ext cx="35711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comments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5324475" y="5139630"/>
            <a:ext cx="35711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likes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9258300" y="3091755"/>
            <a:ext cx="3943350" cy="25146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9258300" y="5596830"/>
            <a:ext cx="39433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Shape 30"/>
          <p:cNvSpPr/>
          <p:nvPr/>
        </p:nvSpPr>
        <p:spPr>
          <a:xfrm>
            <a:off x="9258300" y="3091755"/>
            <a:ext cx="3943350" cy="28575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3" name="Shape 31"/>
          <p:cNvSpPr/>
          <p:nvPr/>
        </p:nvSpPr>
        <p:spPr>
          <a:xfrm>
            <a:off x="9258300" y="3091755"/>
            <a:ext cx="9525" cy="2514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Shape 32"/>
          <p:cNvSpPr/>
          <p:nvPr/>
        </p:nvSpPr>
        <p:spPr>
          <a:xfrm>
            <a:off x="13192125" y="3091755"/>
            <a:ext cx="9525" cy="2514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5" name="Shape 33"/>
          <p:cNvSpPr/>
          <p:nvPr/>
        </p:nvSpPr>
        <p:spPr>
          <a:xfrm>
            <a:off x="9496425" y="3720405"/>
            <a:ext cx="3467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Text 34"/>
          <p:cNvSpPr/>
          <p:nvPr/>
        </p:nvSpPr>
        <p:spPr>
          <a:xfrm>
            <a:off x="9496425" y="3348930"/>
            <a:ext cx="4156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2369254" y="3401318"/>
            <a:ext cx="67047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TABLES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496425" y="3939480"/>
            <a:ext cx="35711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chat_rooms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9496425" y="4339530"/>
            <a:ext cx="35711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9496425" y="4739580"/>
            <a:ext cx="35711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room_members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13430250" y="3091755"/>
            <a:ext cx="3943350" cy="25146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13430250" y="5596830"/>
            <a:ext cx="394335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3" name="Shape 41"/>
          <p:cNvSpPr/>
          <p:nvPr/>
        </p:nvSpPr>
        <p:spPr>
          <a:xfrm>
            <a:off x="13430250" y="3091755"/>
            <a:ext cx="3943350" cy="2857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Shape 42"/>
          <p:cNvSpPr/>
          <p:nvPr/>
        </p:nvSpPr>
        <p:spPr>
          <a:xfrm>
            <a:off x="13430250" y="3091755"/>
            <a:ext cx="9525" cy="2514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5" name="Shape 43"/>
          <p:cNvSpPr/>
          <p:nvPr/>
        </p:nvSpPr>
        <p:spPr>
          <a:xfrm>
            <a:off x="17364075" y="3091755"/>
            <a:ext cx="9525" cy="2514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Shape 44"/>
          <p:cNvSpPr/>
          <p:nvPr/>
        </p:nvSpPr>
        <p:spPr>
          <a:xfrm>
            <a:off x="13668375" y="3720405"/>
            <a:ext cx="3467100" cy="952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7" name="Text 45"/>
          <p:cNvSpPr/>
          <p:nvPr/>
        </p:nvSpPr>
        <p:spPr>
          <a:xfrm>
            <a:off x="13668375" y="3348930"/>
            <a:ext cx="41567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-1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16615470" y="3401318"/>
            <a:ext cx="5962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9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TABLE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3668375" y="3939480"/>
            <a:ext cx="357111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914400" y="5873055"/>
            <a:ext cx="95488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spc="176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 3종 ·</a:t>
            </a:r>
            <a:endParaRPr lang="en-US" sz="975" dirty="0"/>
          </a:p>
        </p:txBody>
      </p:sp>
      <p:sp>
        <p:nvSpPr>
          <p:cNvPr id="51" name="Shape 49"/>
          <p:cNvSpPr/>
          <p:nvPr/>
        </p:nvSpPr>
        <p:spPr>
          <a:xfrm>
            <a:off x="1907381" y="5873055"/>
            <a:ext cx="3549997" cy="333375"/>
          </a:xfrm>
          <a:prstGeom prst="roundRect">
            <a:avLst>
              <a:gd name="adj" fmla="val 22857"/>
            </a:avLst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69306" y="5958780"/>
            <a:ext cx="3332647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friend_status </a:t>
            </a:r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highlight>
                  <a:srgbClr val="F7F8F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pending · accepted · declined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571679" y="5873055"/>
            <a:ext cx="2669977" cy="333375"/>
          </a:xfrm>
          <a:prstGeom prst="roundRect">
            <a:avLst>
              <a:gd name="adj" fmla="val 22857"/>
            </a:avLst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33604" y="5958780"/>
            <a:ext cx="2426226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room_type_status </a:t>
            </a:r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highlight>
                  <a:srgbClr val="F7F8F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direct · group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355955" y="5873055"/>
            <a:ext cx="2230189" cy="333375"/>
          </a:xfrm>
          <a:prstGeom prst="roundRect">
            <a:avLst>
              <a:gd name="adj" fmla="val 22857"/>
            </a:avLst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17880" y="5958780"/>
            <a:ext cx="198253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notification_type </a:t>
            </a:r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highlight>
                  <a:srgbClr val="F7F8F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6 kinds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14400" y="6435030"/>
            <a:ext cx="16459200" cy="600075"/>
          </a:xfrm>
          <a:prstGeom prst="roundRect">
            <a:avLst>
              <a:gd name="adj" fmla="val 15873"/>
            </a:avLst>
          </a:prstGeom>
          <a:solidFill>
            <a:srgbClr val="FFFBEB"/>
          </a:solidFill>
          <a:ln/>
        </p:spPr>
      </p:sp>
      <p:sp>
        <p:nvSpPr>
          <p:cNvPr id="58" name="Shape 56"/>
          <p:cNvSpPr/>
          <p:nvPr/>
        </p:nvSpPr>
        <p:spPr>
          <a:xfrm>
            <a:off x="914400" y="7025580"/>
            <a:ext cx="16459200" cy="9525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59" name="Shape 57"/>
          <p:cNvSpPr/>
          <p:nvPr/>
        </p:nvSpPr>
        <p:spPr>
          <a:xfrm>
            <a:off x="914400" y="6435030"/>
            <a:ext cx="16459200" cy="9525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60" name="Shape 58"/>
          <p:cNvSpPr/>
          <p:nvPr/>
        </p:nvSpPr>
        <p:spPr>
          <a:xfrm>
            <a:off x="914400" y="6435030"/>
            <a:ext cx="38100" cy="60007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Shape 59"/>
          <p:cNvSpPr/>
          <p:nvPr/>
        </p:nvSpPr>
        <p:spPr>
          <a:xfrm>
            <a:off x="17364075" y="6435030"/>
            <a:ext cx="9525" cy="600075"/>
          </a:xfrm>
          <a:prstGeom prst="rect">
            <a:avLst/>
          </a:prstGeom>
          <a:solidFill>
            <a:srgbClr val="FDE68A"/>
          </a:solidFill>
          <a:ln/>
        </p:spPr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1100" y="6630293"/>
            <a:ext cx="209550" cy="209550"/>
          </a:xfrm>
          <a:prstGeom prst="rect">
            <a:avLst/>
          </a:prstGeom>
        </p:spPr>
      </p:pic>
      <p:sp>
        <p:nvSpPr>
          <p:cNvPr id="63" name="Text 60"/>
          <p:cNvSpPr/>
          <p:nvPr/>
        </p:nvSpPr>
        <p:spPr>
          <a:xfrm>
            <a:off x="1524000" y="6616005"/>
            <a:ext cx="879119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설계 결정 </a:t>
            </a:r>
            <a:pPr algn="l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회원 탈퇴 시 </a:t>
            </a:r>
            <a:pPr algn="l" indent="0" marL="0">
              <a:buNone/>
            </a:pPr>
            <a:r>
              <a:rPr lang="en-US" sz="1161" dirty="0">
                <a:solidFill>
                  <a:srgbClr val="4338CA"/>
                </a:solidFill>
                <a:highlight>
                  <a:srgbClr val="F7F8F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 DELETE CASCADE</a:t>
            </a:r>
            <a:pPr algn="l" indent="0" marL="0"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게시글 · 댓글 · 채팅 · 알림 등 연관 데이터를 일괄 정리한다.</a:t>
            </a:r>
            <a:endParaRPr lang="en-US" sz="1350" dirty="0"/>
          </a:p>
        </p:txBody>
      </p:sp>
      <p:sp>
        <p:nvSpPr>
          <p:cNvPr id="64" name="Shape 61"/>
          <p:cNvSpPr/>
          <p:nvPr/>
        </p:nvSpPr>
        <p:spPr>
          <a:xfrm>
            <a:off x="914400" y="9744075"/>
            <a:ext cx="266700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65" name="Text 62"/>
          <p:cNvSpPr/>
          <p:nvPr/>
        </p:nvSpPr>
        <p:spPr>
          <a:xfrm>
            <a:off x="1314450" y="9677400"/>
            <a:ext cx="19692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· Park Seojin</a:t>
            </a:r>
            <a:endParaRPr lang="en-US" sz="1050" dirty="0"/>
          </a:p>
        </p:txBody>
      </p:sp>
      <p:sp>
        <p:nvSpPr>
          <p:cNvPr id="66" name="Text 63"/>
          <p:cNvSpPr/>
          <p:nvPr/>
        </p:nvSpPr>
        <p:spPr>
          <a:xfrm>
            <a:off x="16891099" y="9677400"/>
            <a:ext cx="5587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6629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201660" y="557530"/>
            <a:ext cx="1651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UI DEMO (1)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76345" y="595630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6666845" y="557530"/>
            <a:ext cx="7829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447800"/>
            <a:ext cx="169532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UI 시연 · 인증 · 프로필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6425"/>
            <a:ext cx="16953230" cy="765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계정 진입과 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관리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2870200"/>
            <a:ext cx="16953865" cy="438785"/>
          </a:xfrm>
          <a:prstGeom prst="rect">
            <a:avLst/>
          </a:prstGeom>
          <a:noFill/>
          <a:ln/>
        </p:spPr>
        <p:txBody>
          <a:bodyPr wrap="square" lIns="25400" tIns="25400" rIns="25400" bIns="25400" numCol="1" vert="horz" anchor="t">
            <a:normAutofit fontScale="25000" lnSpcReduction="20000"/>
          </a:bodyPr>
          <a:lstStyle/>
          <a:p>
            <a:pPr marL="0" indent="0"/>
            <a:r>
              <a:rPr/>
              <a:t/>
            </a:r>
            <a:br>
              <a:rPr/>
            </a:br>
            <a:endParaRPr lang="ko-KR" altLang="en-US" sz="2250">
              <a:solidFill>
                <a:srgbClr val="37415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072130" y="3651250"/>
            <a:ext cx="3419475" cy="4781550"/>
          </a:xfrm>
          <a:prstGeom prst="roundRect">
            <a:avLst>
              <a:gd name="adj" fmla="val 3900"/>
            </a:avLst>
          </a:prstGeom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342900" dist="17145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110230" y="8566150"/>
            <a:ext cx="15684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10230" y="8823325"/>
            <a:ext cx="1568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등록 · 입력 검증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760085" y="8722995"/>
            <a:ext cx="75057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signup.png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15455" y="3651250"/>
            <a:ext cx="4733925" cy="4781550"/>
          </a:xfrm>
          <a:prstGeom prst="roundRect">
            <a:avLst>
              <a:gd name="adj" fmla="val 2817"/>
            </a:avLst>
          </a:prstGeom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342900" dist="17145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3555" y="8566150"/>
            <a:ext cx="186499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3555" y="8823325"/>
            <a:ext cx="18649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발급 · HttpOnly 쿠키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0885170" y="8722995"/>
            <a:ext cx="68326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login.png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873230" y="3651250"/>
            <a:ext cx="3362325" cy="4781550"/>
          </a:xfrm>
          <a:prstGeom prst="roundRect">
            <a:avLst>
              <a:gd name="adj" fmla="val 3966"/>
            </a:avLst>
          </a:prstGeom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342900" dist="17145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911330" y="8566150"/>
            <a:ext cx="17113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편집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911330" y="8823325"/>
            <a:ext cx="17113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수정 · 이미지 업로드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3964285" y="8722995"/>
            <a:ext cx="12896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profile_update.png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14400" y="9744075"/>
            <a:ext cx="266700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1314450" y="9677400"/>
            <a:ext cx="19691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· Park Seojin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901160" y="9677400"/>
            <a:ext cx="5486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050" dirty="0"/>
          </a:p>
        </p:txBody>
      </p:sp>
      <p:pic>
        <p:nvPicPr>
          <p:cNvPr id="24" name="그림 1" descr="/temp/fImage242385910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1862435" y="3632835"/>
            <a:ext cx="3423285" cy="480695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pic>
      <p:pic>
        <p:nvPicPr>
          <p:cNvPr id="25" name="그림 2" descr="/temp/fImage289585922966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3060065" y="3618865"/>
            <a:ext cx="3437255" cy="482092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pic>
      <p:pic>
        <p:nvPicPr>
          <p:cNvPr id="26" name="그림 3" descr="/temp/fImage23262593695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764020" y="3632835"/>
            <a:ext cx="4819650" cy="480695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pic>
      <p:sp>
        <p:nvSpPr>
          <p:cNvPr id="28" name="텍스트 상자 5"/>
          <p:cNvSpPr txBox="1">
            <a:spLocks/>
          </p:cNvSpPr>
          <p:nvPr/>
        </p:nvSpPr>
        <p:spPr>
          <a:xfrm rot="0">
            <a:off x="905510" y="2868930"/>
            <a:ext cx="10831830" cy="872490"/>
          </a:xfrm>
          <a:prstGeom prst="rect"/>
          <a:noFill/>
        </p:spPr>
        <p:txBody>
          <a:bodyPr wrap="square" lIns="0" tIns="0" rIns="0" bIns="0" vert="horz" anchor="t">
            <a:noAutofit/>
          </a:bodyPr>
          <a:lstStyle/>
          <a:p>
            <a:pPr marL="0" indent="0" algn="l"/>
            <a:r>
              <a:rPr sz="2250" i="0" b="0">
                <a:solidFill>
                  <a:srgbClr val="374151"/>
                </a:solidFill>
                <a:latin typeface="-apple-system" charset="0"/>
                <a:ea typeface="-apple-system" charset="0"/>
              </a:rPr>
              <a:t>회원가입 · 로그인 · 프로필 편집 — 계정 라이프사이클의 세 화면.</a:t>
            </a:r>
            <a:r>
              <a:rPr/>
              <a:t/>
            </a:r>
            <a:br>
              <a:rPr/>
            </a:br>
            <a:endParaRPr lang="ko-KR" altLang="en-US" sz="1800">
              <a:latin typeface="나눔바른고딕" charset="0"/>
              <a:ea typeface="나눔바른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67246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8206105" y="557530"/>
            <a:ext cx="1651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UI DEMO (2)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76345" y="595630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6666845" y="557530"/>
            <a:ext cx="7829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447800"/>
            <a:ext cx="1695323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UI 시연 · 피드 · 메신저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6425"/>
            <a:ext cx="16953230" cy="765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콘텐츠와 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소통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2870200"/>
            <a:ext cx="1695323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-22" kern="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뉴스피드 · 프로필 · 친구 검색 · 채팅 화면.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043305" y="3651250"/>
            <a:ext cx="3009900" cy="4000500"/>
          </a:xfrm>
          <a:prstGeom prst="roundRect">
            <a:avLst>
              <a:gd name="adj" fmla="val 4430"/>
            </a:avLst>
          </a:prstGeom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342900" dist="17145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81405" y="7785100"/>
            <a:ext cx="101282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뉴스피드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81405" y="8042275"/>
            <a:ext cx="101282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친구 기반 노출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119120" y="7941945"/>
            <a:ext cx="952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main_page.png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38955" y="3651250"/>
            <a:ext cx="3676650" cy="4000500"/>
          </a:xfrm>
          <a:prstGeom prst="roundRect">
            <a:avLst>
              <a:gd name="adj" fmla="val 3627"/>
            </a:avLst>
          </a:prstGeom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342900" dist="17145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77055" y="7785100"/>
            <a:ext cx="11557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프로필 피드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77055" y="8042275"/>
            <a:ext cx="1155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게시글 모음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7081520" y="7941945"/>
            <a:ext cx="952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user_feed.png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301355" y="3651250"/>
            <a:ext cx="3514725" cy="4000500"/>
          </a:xfrm>
          <a:prstGeom prst="roundRect">
            <a:avLst>
              <a:gd name="adj" fmla="val 3794"/>
            </a:avLst>
          </a:prstGeom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342900" dist="17145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38820" y="7785100"/>
            <a:ext cx="124333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친구 검색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8820" y="8042275"/>
            <a:ext cx="12433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탐색 · 신청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0612755" y="7941945"/>
            <a:ext cx="12223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friend_search.png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101830" y="5060950"/>
            <a:ext cx="5162550" cy="2590800"/>
          </a:xfrm>
          <a:prstGeom prst="roundRect">
            <a:avLst>
              <a:gd name="adj" fmla="val 5147"/>
            </a:avLst>
          </a:prstGeom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342900" dist="17145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139930" y="7785100"/>
            <a:ext cx="205168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메신저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139930" y="8042275"/>
            <a:ext cx="205168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실시간 · 와이드 뷰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6330295" y="7941945"/>
            <a:ext cx="9525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36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messenger.png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14400" y="9744075"/>
            <a:ext cx="266700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1314450" y="9677400"/>
            <a:ext cx="19691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· Park Seojin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6891000" y="9677400"/>
            <a:ext cx="5588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050" dirty="0"/>
          </a:p>
        </p:txBody>
      </p:sp>
      <p:pic>
        <p:nvPicPr>
          <p:cNvPr id="28" name="그림 6" descr="/temp/fImage20841596995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025524" y="3624580"/>
            <a:ext cx="3068955" cy="4032885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pic>
      <p:pic>
        <p:nvPicPr>
          <p:cNvPr id="29" name="그림 7" descr="/temp/fImage200735977588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4316730" y="3624580"/>
            <a:ext cx="3703955" cy="4032885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pic>
      <p:pic>
        <p:nvPicPr>
          <p:cNvPr id="30" name="그림 8" descr="/temp/fImage293225984850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8281669" y="3624580"/>
            <a:ext cx="3553460" cy="4060825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pic>
      <p:pic>
        <p:nvPicPr>
          <p:cNvPr id="31" name="그림 9" descr="/temp/fImage178085997754.png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2075795" y="4993005"/>
            <a:ext cx="5375910" cy="2678430"/>
          </a:xfrm>
          <a:prstGeom prst="rect"/>
          <a:noFill/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672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918103" y="557213"/>
            <a:ext cx="222751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IMPLEMENTATION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76613" y="595313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6667113" y="557213"/>
            <a:ext cx="782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447800"/>
            <a:ext cx="169529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핵심 구현 포인트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6425"/>
            <a:ext cx="16952976" cy="6034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200" b="1" spc="-10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눈에 잘 보이지 않는 </a:t>
            </a:r>
            <a:pPr algn="l" indent="0" marL="0">
              <a:lnSpc>
                <a:spcPct val="106000"/>
              </a:lnSpc>
              <a:buNone/>
            </a:pPr>
            <a:r>
              <a:rPr lang="en-US" sz="4200" b="1" spc="-105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디테일</a:t>
            </a:r>
            <a:pPr algn="l" indent="0" marL="0">
              <a:lnSpc>
                <a:spcPct val="106000"/>
              </a:lnSpc>
              <a:buNone/>
            </a:pPr>
            <a:r>
              <a:rPr lang="en-US" sz="4200" b="1" spc="-10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경험이 결정된다.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914400" y="3089523"/>
            <a:ext cx="3971925" cy="493395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0625" y="3389561"/>
            <a:ext cx="26550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31618" y="3365748"/>
            <a:ext cx="478482" cy="209550"/>
          </a:xfrm>
          <a:prstGeom prst="roundRect">
            <a:avLst>
              <a:gd name="adj" fmla="val 27273"/>
            </a:avLst>
          </a:prstGeom>
          <a:solidFill>
            <a:srgbClr val="F7F8FB"/>
          </a:solidFill>
          <a:ln/>
        </p:spPr>
      </p:sp>
      <p:sp>
        <p:nvSpPr>
          <p:cNvPr id="11" name="Text 9"/>
          <p:cNvSpPr/>
          <p:nvPr/>
        </p:nvSpPr>
        <p:spPr>
          <a:xfrm>
            <a:off x="4226868" y="3403848"/>
            <a:ext cx="36418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90625" y="3746748"/>
            <a:ext cx="352205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spc="-3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자동 재발급 refresh token rotation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190625" y="4403973"/>
            <a:ext cx="352205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 인터셉터가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감지 → </a:t>
            </a:r>
            <a:pPr algn="l" indent="0" marL="0">
              <a:lnSpc>
                <a:spcPct val="155000"/>
              </a:lnSpc>
              <a:buNone/>
            </a:pPr>
            <a:r>
              <a:rPr lang="en-US" sz="968" dirty="0">
                <a:solidFill>
                  <a:srgbClr val="4338CA"/>
                </a:solidFill>
                <a:highlight>
                  <a:srgbClr val="F7F8F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/auth/refresh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호출 → 새 access 토큰 발급 →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 요청 자동 재실행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1190625" y="6726287"/>
            <a:ext cx="3419475" cy="1020961"/>
          </a:xfrm>
          <a:prstGeom prst="roundRect">
            <a:avLst>
              <a:gd name="adj" fmla="val 9329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343025" y="6859637"/>
            <a:ext cx="3217259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interceptor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E2E8F0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401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/auth/refresh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E2E8F0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access_token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E2E8F0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retry request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76825" y="3089523"/>
            <a:ext cx="3971925" cy="493395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53050" y="3389561"/>
            <a:ext cx="26550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49977" y="3365748"/>
            <a:ext cx="622548" cy="209550"/>
          </a:xfrm>
          <a:prstGeom prst="roundRect">
            <a:avLst>
              <a:gd name="adj" fmla="val 27273"/>
            </a:avLst>
          </a:prstGeom>
          <a:solidFill>
            <a:srgbClr val="F7F8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45227" y="3403848"/>
            <a:ext cx="50824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53050" y="3746748"/>
            <a:ext cx="352205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spc="-3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인증 자동 room join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353050" y="4403973"/>
            <a:ext cx="352205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핸드셰이크에서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쿠키 파싱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JWT 검증 → 사용자가 속한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방에 자동 join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5353050" y="6726287"/>
            <a:ext cx="3419475" cy="1020961"/>
          </a:xfrm>
          <a:prstGeom prst="roundRect">
            <a:avLst>
              <a:gd name="adj" fmla="val 9329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5505450" y="6859637"/>
            <a:ext cx="3217259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E2E8F0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cookie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E2E8F0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rooms =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getByUser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E2E8F0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(uid) rooms.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E2E8F0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(r =&gt; socket.join(r))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239250" y="3089523"/>
            <a:ext cx="3971925" cy="493395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15475" y="3389561"/>
            <a:ext cx="26550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2456468" y="3365748"/>
            <a:ext cx="478482" cy="209550"/>
          </a:xfrm>
          <a:prstGeom prst="roundRect">
            <a:avLst>
              <a:gd name="adj" fmla="val 27273"/>
            </a:avLst>
          </a:prstGeom>
          <a:solidFill>
            <a:srgbClr val="F7F8FB"/>
          </a:solidFill>
          <a:ln/>
        </p:spPr>
      </p:sp>
      <p:sp>
        <p:nvSpPr>
          <p:cNvPr id="27" name="Text 25"/>
          <p:cNvSpPr/>
          <p:nvPr/>
        </p:nvSpPr>
        <p:spPr>
          <a:xfrm>
            <a:off x="12551718" y="3403848"/>
            <a:ext cx="36418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515475" y="3746748"/>
            <a:ext cx="352205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spc="-3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채팅방 중복 방지 direct_key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515475" y="4403973"/>
            <a:ext cx="352205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정렬한 두 사용자 ID로 만든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direct_key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UNIQUE 제약 → DB 레벨에서 차단.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9515475" y="6914852"/>
            <a:ext cx="3419475" cy="832396"/>
          </a:xfrm>
          <a:prstGeom prst="roundRect">
            <a:avLst>
              <a:gd name="adj" fmla="val 11443"/>
            </a:avLst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9667875" y="7048202"/>
            <a:ext cx="3217259" cy="6037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chat_rooms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E2E8F0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 =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E2E8F0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'_'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E2E8F0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E2E8F0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(direct_key)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401675" y="3089523"/>
            <a:ext cx="3971925" cy="493395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677900" y="3389561"/>
            <a:ext cx="26550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6762809" y="3365748"/>
            <a:ext cx="334566" cy="209550"/>
          </a:xfrm>
          <a:prstGeom prst="roundRect">
            <a:avLst>
              <a:gd name="adj" fmla="val 27273"/>
            </a:avLst>
          </a:prstGeom>
          <a:solidFill>
            <a:srgbClr val="F7F8FB"/>
          </a:solidFill>
          <a:ln/>
        </p:spPr>
      </p:sp>
      <p:sp>
        <p:nvSpPr>
          <p:cNvPr id="35" name="Text 33"/>
          <p:cNvSpPr/>
          <p:nvPr/>
        </p:nvSpPr>
        <p:spPr>
          <a:xfrm>
            <a:off x="16858059" y="3403848"/>
            <a:ext cx="2202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677900" y="3746748"/>
            <a:ext cx="3522059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spc="-3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Index 미읽음 알림 최적화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3677900" y="4403973"/>
            <a:ext cx="3522059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전체가 아닌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미읽음만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인덱싱 → 인덱스 크기 ↓ 조회 성능 ↑.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13677900" y="6726287"/>
            <a:ext cx="3419475" cy="1020961"/>
          </a:xfrm>
          <a:prstGeom prst="roundRect">
            <a:avLst>
              <a:gd name="adj" fmla="val 9329"/>
            </a:avLst>
          </a:prstGeom>
          <a:solidFill>
            <a:srgbClr val="0F172A"/>
          </a:solidFill>
          <a:ln/>
        </p:spPr>
      </p:sp>
      <p:sp>
        <p:nvSpPr>
          <p:cNvPr id="39" name="Text 37"/>
          <p:cNvSpPr/>
          <p:nvPr/>
        </p:nvSpPr>
        <p:spPr>
          <a:xfrm>
            <a:off x="13830300" y="6859637"/>
            <a:ext cx="3217259" cy="792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E2E8F0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idx_notif_unread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E2E8F0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notifications(uid)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E2E8F0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is_read=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ct val="165000"/>
              </a:lnSpc>
              <a:buNone/>
            </a:pPr>
            <a:r>
              <a:rPr lang="en-US" sz="900" dirty="0">
                <a:solidFill>
                  <a:srgbClr val="E2E8F0"/>
                </a:solidFill>
                <a:highlight>
                  <a:srgbClr val="0F172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14400" y="9744075"/>
            <a:ext cx="266700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41" name="Text 39"/>
          <p:cNvSpPr/>
          <p:nvPr/>
        </p:nvSpPr>
        <p:spPr>
          <a:xfrm>
            <a:off x="1314450" y="9677400"/>
            <a:ext cx="19692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· Park Seojin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6891099" y="9677400"/>
            <a:ext cx="5587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33400"/>
            <a:ext cx="6725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81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7889081" y="557213"/>
            <a:ext cx="228540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231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OUTCOMES &amp; NEXT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76613" y="595313"/>
            <a:ext cx="76200" cy="76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16667113" y="557213"/>
            <a:ext cx="7826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63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447800"/>
            <a:ext cx="169529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336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기대 효과 / 향후 계획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6425"/>
            <a:ext cx="16952976" cy="1491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곳에서 이어지는 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 · 콘텐츠 · 대화</a:t>
            </a:r>
            <a:pPr algn="l" indent="0" marL="0">
              <a:lnSpc>
                <a:spcPct val="106000"/>
              </a:lnSpc>
              <a:buNone/>
            </a:pPr>
            <a:r>
              <a:rPr lang="en-US" sz="5400" b="1" spc="-135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914400" y="4054078"/>
            <a:ext cx="8077200" cy="3305175"/>
          </a:xfrm>
          <a:prstGeom prst="roundRect">
            <a:avLst>
              <a:gd name="adj" fmla="val 6340"/>
            </a:avLst>
          </a:prstGeom>
          <a:solidFill>
            <a:srgbClr val="F7F8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43025" y="4482703"/>
            <a:ext cx="743654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OUTCOMES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43025" y="4873228"/>
            <a:ext cx="743654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609725" y="5768578"/>
            <a:ext cx="7169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SNS와 메신저가 </a:t>
            </a:r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곳에서 이어지는 UX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컨텍스트 전환 비용 감소.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9725" y="6206728"/>
            <a:ext cx="7169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친구 관계를 매개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콘텐츠 소비와 실시간 소통이 자연스럽게 이어짐.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9725" y="6644878"/>
            <a:ext cx="7169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기반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트리거로 재방문 유도 · 활성 사용자 유지.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296400" y="4054078"/>
            <a:ext cx="8077200" cy="3305175"/>
          </a:xfrm>
          <a:prstGeom prst="roundRect">
            <a:avLst>
              <a:gd name="adj" fmla="val 634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25025" y="4482703"/>
            <a:ext cx="743654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89" kern="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725025" y="4873228"/>
            <a:ext cx="743654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spc="-60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향후 계획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991725" y="5768578"/>
            <a:ext cx="7169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페이지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관심사 기반 커뮤니티 단위 도입.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91725" y="6206728"/>
            <a:ext cx="7169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기능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일정 공유 · RSVP · 알림 연동.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991725" y="6644878"/>
            <a:ext cx="716984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커뮤니티 확장 </a:t>
            </a:r>
            <a:pPr algn="l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공개 채널 · 검색 가능한 콘텐츠.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52098" y="7940278"/>
            <a:ext cx="145985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spc="-31" kern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67512" y="8321278"/>
            <a:ext cx="1695297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spc="72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· Park Seojin · 2026.05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9744075"/>
            <a:ext cx="266700" cy="1905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1314450" y="9677400"/>
            <a:ext cx="19692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DevChat · Park Seojin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891099" y="9677400"/>
            <a:ext cx="5587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84" kern="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1050" dirty="0"/>
          </a:p>
        </p:txBody>
      </p:sp>
    </p:spTree>
  </p:cSld>
  <p:clrMapOvr>
    <a:masterClrMapping/>
  </p:clrMapOvr>
</p:sld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WebOffice</Application>
  <AppVersion>12.000</AppVersion>
  <Characters>0</Characters>
  <CharactersWithSpaces>0</CharactersWithSpaces>
  <Company>PptxGenJS</Company>
  <DocSecurity>0</DocSecurity>
  <HyperlinksChanged>false</HyperlinksChanged>
  <Lines>0</Lines>
  <LinksUpToDate>false</LinksUpToDate>
  <Pages>14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PptxGenJS</dc:creator>
  <cp:lastModifiedBy>PptxGenJS</cp:lastModifiedBy>
  <dc:title>PptxGenJS Presentation</dc:title>
  <dc:subject>PptxGenJS Presentation</dc:subject>
  <dcterms:modified xsi:type="dcterms:W3CDTF">2026-05-19T01:50:43Z</dcterms:modified>
</cp:coreProperties>
</file>